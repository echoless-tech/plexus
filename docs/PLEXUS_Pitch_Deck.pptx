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0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Credit</c:v>
                </c:pt>
              </c:strCache>
            </c:strRef>
          </c:tx>
          <c:dPt>
            <c:idx val="0"/>
            <c:bubble3D val="0"/>
            <c:spPr>
              <a:solidFill>
                <a:srgbClr val="D9A44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954-4437-896A-A5BAF00C4B83}"/>
              </c:ext>
            </c:extLst>
          </c:dPt>
          <c:dPt>
            <c:idx val="1"/>
            <c:bubble3D val="0"/>
            <c:spPr>
              <a:solidFill>
                <a:srgbClr val="2828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954-4437-896A-A5BAF00C4B83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Headroom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742</c:v>
                </c:pt>
                <c:pt idx="1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54-4437-896A-A5BAF00C4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4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50">
          <a:solidFill>
            <a:srgbClr val="8D877D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</c:v>
                </c:pt>
              </c:strCache>
            </c:strRef>
          </c:tx>
          <c:spPr>
            <a:ln w="31750">
              <a:solidFill>
                <a:srgbClr val="CF705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Revenue
growth</c:v>
                </c:pt>
                <c:pt idx="1">
                  <c:v>Profit
margin</c:v>
                </c:pt>
                <c:pt idx="2">
                  <c:v>Inventory
turn</c:v>
                </c:pt>
                <c:pt idx="3">
                  <c:v>On-time
delivery</c:v>
                </c:pt>
                <c:pt idx="4">
                  <c:v>Cash
cycle</c:v>
                </c:pt>
                <c:pt idx="5">
                  <c:v>Digital
adoption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68</c:v>
                </c:pt>
                <c:pt idx="2">
                  <c:v>71</c:v>
                </c:pt>
                <c:pt idx="3">
                  <c:v>88</c:v>
                </c:pt>
                <c:pt idx="4">
                  <c:v>60</c:v>
                </c:pt>
                <c:pt idx="5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42-4136-A709-B38BAB4FE9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Sector average</c:v>
                </c:pt>
              </c:strCache>
            </c:strRef>
          </c:tx>
          <c:spPr>
            <a:ln w="15875">
              <a:solidFill>
                <a:srgbClr val="5B574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Revenue
growth</c:v>
                </c:pt>
                <c:pt idx="1">
                  <c:v>Profit
margin</c:v>
                </c:pt>
                <c:pt idx="2">
                  <c:v>Inventory
turn</c:v>
                </c:pt>
                <c:pt idx="3">
                  <c:v>On-time
delivery</c:v>
                </c:pt>
                <c:pt idx="4">
                  <c:v>Cash
cycle</c:v>
                </c:pt>
                <c:pt idx="5">
                  <c:v>Digital
adoption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</c:v>
                </c:pt>
                <c:pt idx="1">
                  <c:v>55</c:v>
                </c:pt>
                <c:pt idx="2">
                  <c:v>60</c:v>
                </c:pt>
                <c:pt idx="3">
                  <c:v>58</c:v>
                </c:pt>
                <c:pt idx="4">
                  <c:v>50</c:v>
                </c:pt>
                <c:pt idx="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42-4136-A709-B38BAB4FE90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Top 10%</c:v>
                </c:pt>
              </c:strCache>
            </c:strRef>
          </c:tx>
          <c:spPr>
            <a:ln w="15875">
              <a:solidFill>
                <a:srgbClr val="5AA17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Revenue
growth</c:v>
                </c:pt>
                <c:pt idx="1">
                  <c:v>Profit
margin</c:v>
                </c:pt>
                <c:pt idx="2">
                  <c:v>Inventory
turn</c:v>
                </c:pt>
                <c:pt idx="3">
                  <c:v>On-time
delivery</c:v>
                </c:pt>
                <c:pt idx="4">
                  <c:v>Cash
cycle</c:v>
                </c:pt>
                <c:pt idx="5">
                  <c:v>Digital
adoption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95</c:v>
                </c:pt>
                <c:pt idx="1">
                  <c:v>88</c:v>
                </c:pt>
                <c:pt idx="2">
                  <c:v>90</c:v>
                </c:pt>
                <c:pt idx="3">
                  <c:v>92</c:v>
                </c:pt>
                <c:pt idx="4">
                  <c:v>85</c:v>
                </c:pt>
                <c:pt idx="5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42-4136-A709-B38BAB4FE9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>
          <c:spPr>
            <a:ln w="9525">
              <a:solidFill>
                <a:srgbClr val="2A2A2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2A2A2E"/>
            </a:solidFill>
          </a:ln>
        </c:spPr>
        <c:txPr>
          <a:bodyPr/>
          <a:lstStyle/>
          <a:p>
            <a:pPr>
              <a:defRPr sz="1000">
                <a:solidFill>
                  <a:srgbClr val="8D877D"/>
                </a:solidFill>
                <a:latin typeface="Segoe UI"/>
              </a:defRPr>
            </a:pPr>
            <a:endParaRPr lang="en-US"/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>
          <c:spPr>
            <a:ln w="9525">
              <a:solidFill>
                <a:srgbClr val="2A2A2E"/>
              </a:solidFill>
            </a:ln>
          </c:spPr>
        </c:majorGridlines>
        <c:numFmt formatCode="General" sourceLinked="1"/>
        <c:majorTickMark val="cross"/>
        <c:minorTickMark val="none"/>
        <c:tickLblPos val="none"/>
        <c:spPr>
          <a:ln>
            <a:solidFill>
              <a:srgbClr val="2A2A2E"/>
            </a:solidFill>
          </a:ln>
        </c:spPr>
        <c:txPr>
          <a:bodyPr/>
          <a:lstStyle/>
          <a:p>
            <a:pPr>
              <a:defRPr sz="1000">
                <a:solidFill>
                  <a:srgbClr val="8D877D"/>
                </a:solidFill>
                <a:latin typeface="Segoe UI"/>
              </a:defRPr>
            </a:pPr>
            <a:endParaRPr lang="en-US"/>
          </a:p>
        </c:txPr>
        <c:crossAx val="2073612648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000">
              <a:solidFill>
                <a:srgbClr val="8D877D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50">
          <a:solidFill>
            <a:srgbClr val="8D877D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979615" y="-2103120"/>
            <a:ext cx="6766560" cy="6766560"/>
          </a:xfrm>
          <a:prstGeom prst="ellipse">
            <a:avLst/>
          </a:prstGeom>
          <a:solidFill>
            <a:srgbClr val="14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9082735" y="3482035"/>
            <a:ext cx="1316736" cy="724205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082735" y="4206240"/>
            <a:ext cx="1097280" cy="899769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399471" y="3482035"/>
            <a:ext cx="1207008" cy="877824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180015" y="4359859"/>
            <a:ext cx="1426464" cy="746150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875727" y="4206240"/>
            <a:ext cx="1207008" cy="965606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7656271" y="3635654"/>
            <a:ext cx="1426464" cy="570586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875727" y="5106009"/>
            <a:ext cx="2304288" cy="65837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082735" y="2724911"/>
            <a:ext cx="109728" cy="1481329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92463" y="2724911"/>
            <a:ext cx="1207008" cy="757124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962034" y="4085539"/>
            <a:ext cx="241401" cy="241401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339120" y="3421684"/>
            <a:ext cx="120700" cy="120700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119664" y="5045659"/>
            <a:ext cx="120700" cy="120700"/>
          </a:xfrm>
          <a:prstGeom prst="ellipse">
            <a:avLst/>
          </a:prstGeom>
          <a:solidFill>
            <a:srgbClr val="33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546128" y="4299508"/>
            <a:ext cx="120700" cy="12070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815376" y="5111496"/>
            <a:ext cx="120700" cy="120700"/>
          </a:xfrm>
          <a:prstGeom prst="ellipse">
            <a:avLst/>
          </a:prstGeom>
          <a:solidFill>
            <a:srgbClr val="33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595920" y="3575303"/>
            <a:ext cx="120700" cy="120700"/>
          </a:xfrm>
          <a:prstGeom prst="ellipse">
            <a:avLst/>
          </a:prstGeom>
          <a:solidFill>
            <a:srgbClr val="33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32112" y="2664561"/>
            <a:ext cx="120700" cy="120700"/>
          </a:xfrm>
          <a:prstGeom prst="ellipse">
            <a:avLst/>
          </a:prstGeom>
          <a:solidFill>
            <a:srgbClr val="33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1371600"/>
            <a:ext cx="676656" cy="676656"/>
          </a:xfrm>
          <a:prstGeom prst="roundRect">
            <a:avLst>
              <a:gd name="adj" fmla="val 28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115568" y="1533997"/>
            <a:ext cx="153059" cy="263896"/>
          </a:xfrm>
          <a:prstGeom prst="line">
            <a:avLst/>
          </a:prstGeom>
          <a:ln w="13970">
            <a:solidFill>
              <a:srgbClr val="6A4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62508" y="1797893"/>
            <a:ext cx="306119" cy="0"/>
          </a:xfrm>
          <a:prstGeom prst="line">
            <a:avLst/>
          </a:prstGeom>
          <a:ln w="13970">
            <a:solidFill>
              <a:srgbClr val="6A4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62508" y="1533997"/>
            <a:ext cx="153060" cy="263896"/>
          </a:xfrm>
          <a:prstGeom prst="line">
            <a:avLst/>
          </a:prstGeom>
          <a:ln w="13970">
            <a:solidFill>
              <a:srgbClr val="6A4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73277" y="1491706"/>
            <a:ext cx="84582" cy="84582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26336" y="1579671"/>
            <a:ext cx="84582" cy="8458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26336" y="1755602"/>
            <a:ext cx="84582" cy="84582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73277" y="1843567"/>
            <a:ext cx="84582" cy="84582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20217" y="1755602"/>
            <a:ext cx="84582" cy="84582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0217" y="1579671"/>
            <a:ext cx="84582" cy="84582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58052" y="1652412"/>
            <a:ext cx="115031" cy="115031"/>
          </a:xfrm>
          <a:prstGeom prst="ellipse">
            <a:avLst/>
          </a:prstGeom>
          <a:solidFill>
            <a:srgbClr val="F1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73352" y="1417320"/>
            <a:ext cx="5486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 spc="-20">
                <a:solidFill>
                  <a:srgbClr val="F1EDE6"/>
                </a:solidFill>
                <a:latin typeface="Segoe UI"/>
              </a:rPr>
              <a:t>PLEXUS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1938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80">
                <a:solidFill>
                  <a:srgbClr val="5B574F"/>
                </a:solidFill>
                <a:latin typeface="Segoe UI"/>
              </a:rPr>
              <a:t>THE SME OPERATING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2670048"/>
            <a:ext cx="76809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5000" b="1" i="0">
                <a:solidFill>
                  <a:srgbClr val="F1EDE6"/>
                </a:solidFill>
                <a:latin typeface="Segoe UI"/>
              </a:rPr>
              <a:t>Africa's SMEs are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5000" b="1" i="0">
                <a:solidFill>
                  <a:srgbClr val="F1EDE6"/>
                </a:solidFill>
                <a:latin typeface="Segoe UI"/>
              </a:rPr>
              <a:t>invisible. We fix that.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773168"/>
            <a:ext cx="822960" cy="32004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5047488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50" b="0" i="0">
                <a:solidFill>
                  <a:srgbClr val="8D877D"/>
                </a:solidFill>
                <a:latin typeface="Segoe UI"/>
              </a:rPr>
              <a:t>Run your business. Win contracts together. Build a financial identity that travels.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943600"/>
            <a:ext cx="572008" cy="292608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CF7050"/>
                </a:solidFill>
                <a:latin typeface="Segoe UI"/>
              </a:rPr>
              <a:t>RUN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77264" y="5943600"/>
            <a:ext cx="944541" cy="292608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5AA17E"/>
                </a:solidFill>
                <a:latin typeface="Segoe UI"/>
              </a:rPr>
              <a:t>CONNECT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49821" y="5943600"/>
            <a:ext cx="758274" cy="292608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D9A441"/>
                </a:solidFill>
                <a:latin typeface="Segoe UI"/>
              </a:rPr>
              <a:t>PROVE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5495" y="5943600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CF7050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F1EDE6"/>
                </a:solidFill>
                <a:latin typeface="Segoe UI"/>
              </a:rPr>
              <a:t>Invisible three times 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8595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 i="0">
                <a:solidFill>
                  <a:srgbClr val="8D877D"/>
                </a:solidFill>
                <a:latin typeface="Segoe UI"/>
              </a:rPr>
              <a:t>Africa's small businesses are the majority of its economy. They run on WhatsApp, notebooks and cash — so the systems that could fund, inform and grow them simply cannot see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3393338" cy="2542032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7" y="3017520"/>
            <a:ext cx="457200" cy="457200"/>
          </a:xfrm>
          <a:prstGeom prst="ellipse">
            <a:avLst/>
          </a:prstGeom>
          <a:solidFill>
            <a:srgbClr val="2E1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7" y="3099816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F7D62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758184"/>
            <a:ext cx="26252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Invisible to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4123944"/>
            <a:ext cx="262524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D877D"/>
                </a:solidFill>
                <a:latin typeface="Segoe UI"/>
              </a:rPr>
              <a:t>50 successful order cycles. The credit file of someone who has never worked.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4892040"/>
            <a:ext cx="262524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F7D62"/>
                </a:solidFill>
                <a:latin typeface="Segoe UI"/>
              </a:rPr>
              <a:t>No records → no credit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2697480"/>
            <a:ext cx="3393338" cy="2542032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28946" y="3017520"/>
            <a:ext cx="457200" cy="457200"/>
          </a:xfrm>
          <a:prstGeom prst="ellipse">
            <a:avLst/>
          </a:prstGeom>
          <a:solidFill>
            <a:srgbClr val="2E1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28946" y="3099816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F7D62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3226" y="3758184"/>
            <a:ext cx="26252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Invisible to each 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3226" y="4123944"/>
            <a:ext cx="262524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D877D"/>
                </a:solidFill>
                <a:latin typeface="Segoe UI"/>
              </a:rPr>
              <a:t>Four businesses could fill one big contract together. None of them can see the other three.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3226" y="4892040"/>
            <a:ext cx="262524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F7D62"/>
                </a:solidFill>
                <a:latin typeface="Segoe UI"/>
              </a:rPr>
              <a:t>No coordination → lost contracts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1116" y="2697480"/>
            <a:ext cx="3393338" cy="2542032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50884" y="3017520"/>
            <a:ext cx="457200" cy="457200"/>
          </a:xfrm>
          <a:prstGeom prst="ellipse">
            <a:avLst/>
          </a:prstGeom>
          <a:solidFill>
            <a:srgbClr val="2E1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0884" y="3099816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F7D62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5164" y="3758184"/>
            <a:ext cx="26252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Invisible to markets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5164" y="4123944"/>
            <a:ext cx="262524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D877D"/>
                </a:solidFill>
                <a:latin typeface="Segoe UI"/>
              </a:rPr>
              <a:t>Customers two streets away buy from the chain store, because they never knew you existed.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5164" y="4892040"/>
            <a:ext cx="262524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F7D62"/>
                </a:solidFill>
                <a:latin typeface="Segoe UI"/>
              </a:rPr>
              <a:t>No presence → no reach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440680"/>
            <a:ext cx="10637215" cy="749808"/>
          </a:xfrm>
          <a:prstGeom prst="roundRect">
            <a:avLst>
              <a:gd name="adj" fmla="val 55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632704"/>
            <a:ext cx="106372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1EDE6"/>
                </a:solidFill>
                <a:latin typeface="Segoe UI"/>
              </a:rPr>
              <a:t>Not a lack of ambition — a lack of shared infrastructure.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C1DE60-A0D0-6723-6EF6-415C5F918B0F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5AA17E"/>
                </a:solidFill>
                <a:latin typeface="Segoe UI"/>
              </a:rPr>
              <a:t>THE CONTRACT NOBODY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1EDE6"/>
                </a:solidFill>
                <a:latin typeface="Segoe UI"/>
              </a:rPr>
              <a:t>Five thousand units. Four businesses. Zero bids.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82970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D877D"/>
                </a:solidFill>
                <a:latin typeface="Segoe UI"/>
              </a:rPr>
              <a:t>The demand is real and the capacity exists — but it's split across businesses that can't see each other, so the order goes to an importer.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3794760" cy="274320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286207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5B574F"/>
                </a:solidFill>
                <a:latin typeface="Segoe UI"/>
              </a:rPr>
              <a:t>IDLE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1288" y="3172968"/>
            <a:ext cx="3026664" cy="402336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4168" y="325526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EDE6"/>
                </a:solidFill>
                <a:latin typeface="Segoe UI"/>
              </a:rPr>
              <a:t>Thread &amp; 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255264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5AA17E"/>
                </a:solidFill>
                <a:latin typeface="Segoe UI"/>
              </a:rPr>
              <a:t>1,400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1288" y="3630168"/>
            <a:ext cx="3026664" cy="402336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44168" y="371246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EDE6"/>
                </a:solidFill>
                <a:latin typeface="Segoe UI"/>
              </a:rPr>
              <a:t>Ubuntu Textiles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712464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5AA17E"/>
                </a:solidFill>
                <a:latin typeface="Segoe UI"/>
              </a:rPr>
              <a:t>1,300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61288" y="4087368"/>
            <a:ext cx="3026664" cy="402336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44168" y="416966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EDE6"/>
                </a:solidFill>
                <a:latin typeface="Segoe UI"/>
              </a:rPr>
              <a:t>Sew 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169664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5AA17E"/>
                </a:solidFill>
                <a:latin typeface="Segoe UI"/>
              </a:rPr>
              <a:t>1,200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61288" y="4544568"/>
            <a:ext cx="3026664" cy="402336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44168" y="462686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EDE6"/>
                </a:solidFill>
                <a:latin typeface="Segoe UI"/>
              </a:rPr>
              <a:t>MK Garments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626864"/>
            <a:ext cx="777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5AA17E"/>
                </a:solidFill>
                <a:latin typeface="Segoe UI"/>
              </a:rPr>
              <a:t>1,100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5038344"/>
            <a:ext cx="30266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574F"/>
                </a:solidFill>
                <a:latin typeface="Segoe UI"/>
              </a:rPr>
              <a:t>Each too small to bid alone.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36007" y="3374136"/>
            <a:ext cx="763524" cy="603503"/>
          </a:xfrm>
          <a:prstGeom prst="line">
            <a:avLst/>
          </a:prstGeom>
          <a:ln w="13970">
            <a:solidFill>
              <a:srgbClr val="5AA1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36007" y="3831335"/>
            <a:ext cx="763524" cy="146304"/>
          </a:xfrm>
          <a:prstGeom prst="line">
            <a:avLst/>
          </a:prstGeom>
          <a:ln w="13970">
            <a:solidFill>
              <a:srgbClr val="5AA1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636007" y="3977639"/>
            <a:ext cx="763524" cy="310897"/>
          </a:xfrm>
          <a:prstGeom prst="line">
            <a:avLst/>
          </a:prstGeom>
          <a:ln w="13970">
            <a:solidFill>
              <a:srgbClr val="5AA1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636007" y="3977639"/>
            <a:ext cx="763524" cy="768097"/>
          </a:xfrm>
          <a:prstGeom prst="line">
            <a:avLst/>
          </a:prstGeom>
          <a:ln w="13970">
            <a:solidFill>
              <a:srgbClr val="5AA1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62955" y="3648456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8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62955" y="3794760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5AA17E"/>
                </a:solidFill>
                <a:latin typeface="Segoe UI"/>
              </a:rPr>
              <a:t>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44348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1" i="0">
                <a:solidFill>
                  <a:srgbClr val="5AA17E"/>
                </a:solidFill>
                <a:latin typeface="Segoe UI"/>
              </a:rPr>
              <a:t>PLEXUS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1" i="0">
                <a:solidFill>
                  <a:srgbClr val="5AA17E"/>
                </a:solidFill>
                <a:latin typeface="Segoe UI"/>
              </a:rPr>
              <a:t>aggregates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076188" y="3904487"/>
            <a:ext cx="777240" cy="146304"/>
          </a:xfrm>
          <a:prstGeom prst="rightArrow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995159" y="2606040"/>
            <a:ext cx="4419295" cy="274320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95159" y="2606040"/>
            <a:ext cx="4419295" cy="50292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06640" y="2898648"/>
            <a:ext cx="3596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5AA17E"/>
                </a:solidFill>
                <a:latin typeface="Segoe UI"/>
              </a:rPr>
              <a:t>ONE FULFILLABLE 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264408"/>
            <a:ext cx="35963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1EDE6"/>
                </a:solidFill>
                <a:latin typeface="Segoe UI"/>
              </a:rPr>
              <a:t>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995928"/>
            <a:ext cx="3596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D877D"/>
                </a:solidFill>
                <a:latin typeface="Segoe UI"/>
              </a:rPr>
              <a:t>branded units · R1.2m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06640" y="4389120"/>
            <a:ext cx="3596335" cy="0"/>
          </a:xfrm>
          <a:prstGeom prst="line">
            <a:avLst/>
          </a:prstGeom>
          <a:ln w="15875">
            <a:solidFill>
              <a:srgbClr val="2A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466075" y="4594860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62671" y="4544568"/>
            <a:ext cx="3322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EDE6"/>
                </a:solidFill>
                <a:latin typeface="Segoe UI"/>
              </a:rPr>
              <a:t>Split by verified capacity</a:t>
            </a:r>
          </a:p>
        </p:txBody>
      </p:sp>
      <p:sp>
        <p:nvSpPr>
          <p:cNvPr id="38" name="Oval 37"/>
          <p:cNvSpPr/>
          <p:nvPr/>
        </p:nvSpPr>
        <p:spPr>
          <a:xfrm>
            <a:off x="7466075" y="4850892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62671" y="4800600"/>
            <a:ext cx="3322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EDE6"/>
                </a:solidFill>
                <a:latin typeface="Segoe UI"/>
              </a:rPr>
              <a:t>One invoice to the buyer</a:t>
            </a:r>
          </a:p>
        </p:txBody>
      </p:sp>
      <p:sp>
        <p:nvSpPr>
          <p:cNvPr id="40" name="Oval 39"/>
          <p:cNvSpPr/>
          <p:nvPr/>
        </p:nvSpPr>
        <p:spPr>
          <a:xfrm>
            <a:off x="7466075" y="5106924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62671" y="5056632"/>
            <a:ext cx="3322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EDE6"/>
                </a:solidFill>
                <a:latin typeface="Segoe UI"/>
              </a:rPr>
              <a:t>Each business paid directly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2356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1EDE6"/>
                </a:solidFill>
                <a:latin typeface="Segoe UI"/>
              </a:rPr>
              <a:t>This is the mechanic that scales: from a corporate order, to a government tender, to 10,000 relief meals in 48 hours.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03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F3AE07-51BA-BA95-CF45-03B42991CFCE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CF7050"/>
                </a:solidFill>
                <a:latin typeface="Segoe UI"/>
              </a:rPr>
              <a:t>WHY THIS GAP PERSISTS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1EDE6"/>
                </a:solidFill>
                <a:latin typeface="Segoe UI"/>
              </a:rPr>
              <a:t>Everyone builds half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82970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D877D"/>
                </a:solidFill>
                <a:latin typeface="Segoe UI"/>
              </a:rPr>
              <a:t>Programmes build reputation but no financial record. Credit models build a record from generic data. Marketplaces match a transaction and forget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5806440"/>
            <a:ext cx="6035040" cy="0"/>
          </a:xfrm>
          <a:prstGeom prst="line">
            <a:avLst/>
          </a:prstGeom>
          <a:ln w="15875">
            <a:solidFill>
              <a:srgbClr val="3A3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600200" y="2743199"/>
            <a:ext cx="0" cy="3063241"/>
          </a:xfrm>
          <a:prstGeom prst="line">
            <a:avLst/>
          </a:prstGeom>
          <a:ln w="15875">
            <a:solidFill>
              <a:srgbClr val="3A3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00200" y="5952744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spc="110">
                <a:solidFill>
                  <a:srgbClr val="5B574F"/>
                </a:solidFill>
                <a:latin typeface="Segoe UI"/>
              </a:rPr>
              <a:t>BUILDS A PORTABLE FINANCIAL RECORD  →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301752" y="415594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110">
                <a:solidFill>
                  <a:srgbClr val="5B574F"/>
                </a:solidFill>
                <a:latin typeface="Segoe UI"/>
              </a:rPr>
              <a:t>OPERATES DAILY  →</a:t>
            </a:r>
          </a:p>
        </p:txBody>
      </p:sp>
      <p:sp>
        <p:nvSpPr>
          <p:cNvPr id="11" name="Oval 10"/>
          <p:cNvSpPr/>
          <p:nvPr/>
        </p:nvSpPr>
        <p:spPr>
          <a:xfrm>
            <a:off x="2494483" y="4988966"/>
            <a:ext cx="310896" cy="310896"/>
          </a:xfrm>
          <a:prstGeom prst="ellipse">
            <a:avLst/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89811" y="539130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Competitions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&amp; incubators</a:t>
            </a:r>
          </a:p>
        </p:txBody>
      </p:sp>
      <p:sp>
        <p:nvSpPr>
          <p:cNvPr id="13" name="Oval 12"/>
          <p:cNvSpPr/>
          <p:nvPr/>
        </p:nvSpPr>
        <p:spPr>
          <a:xfrm>
            <a:off x="5204764" y="4649724"/>
            <a:ext cx="310896" cy="310896"/>
          </a:xfrm>
          <a:prstGeom prst="ellipse">
            <a:avLst/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0092" y="5052059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Alternative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credit scoring</a:t>
            </a:r>
          </a:p>
        </p:txBody>
      </p:sp>
      <p:sp>
        <p:nvSpPr>
          <p:cNvPr id="15" name="Oval 14"/>
          <p:cNvSpPr/>
          <p:nvPr/>
        </p:nvSpPr>
        <p:spPr>
          <a:xfrm>
            <a:off x="2911449" y="3777386"/>
            <a:ext cx="310896" cy="310896"/>
          </a:xfrm>
          <a:prstGeom prst="ellipse">
            <a:avLst/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6777" y="417972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Gig &amp; freelance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marketplaces</a:t>
            </a:r>
          </a:p>
        </p:txBody>
      </p:sp>
      <p:sp>
        <p:nvSpPr>
          <p:cNvPr id="17" name="Oval 16"/>
          <p:cNvSpPr/>
          <p:nvPr/>
        </p:nvSpPr>
        <p:spPr>
          <a:xfrm>
            <a:off x="5650992" y="3057753"/>
            <a:ext cx="877824" cy="877824"/>
          </a:xfrm>
          <a:prstGeom prst="ellipse">
            <a:avLst/>
          </a:prstGeom>
          <a:solidFill>
            <a:srgbClr val="24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06440" y="3213201"/>
            <a:ext cx="566928" cy="566928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58384" y="3377793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0C0C0E"/>
                </a:solidFill>
                <a:latin typeface="Segoe UI"/>
              </a:rPr>
              <a:t>PLEXUS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331720"/>
            <a:ext cx="32762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5B574F"/>
                </a:solidFill>
                <a:latin typeface="Segoe UI"/>
              </a:rPr>
              <a:t>WHERE EACH ONE STOPS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670048"/>
            <a:ext cx="3276295" cy="84124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2670048"/>
            <a:ext cx="45720" cy="841248"/>
          </a:xfrm>
          <a:prstGeom prst="rect">
            <a:avLst/>
          </a:prstGeom>
          <a:solidFill>
            <a:srgbClr val="C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0768" y="2816352"/>
            <a:ext cx="2727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EDE6"/>
                </a:solidFill>
                <a:latin typeface="Segoe UI"/>
              </a:rPr>
              <a:t>Campus &amp; SME programmes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3072384"/>
            <a:ext cx="270936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Seasonal, opt-in, celebratory — not an operating system.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630168"/>
            <a:ext cx="3276295" cy="84124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3630168"/>
            <a:ext cx="45720" cy="841248"/>
          </a:xfrm>
          <a:prstGeom prst="rect">
            <a:avLst/>
          </a:prstGeom>
          <a:solidFill>
            <a:srgbClr val="C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0768" y="3776472"/>
            <a:ext cx="2727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EDE6"/>
                </a:solidFill>
                <a:latin typeface="Segoe UI"/>
              </a:rPr>
              <a:t>Mobile-money credit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032504"/>
            <a:ext cx="270936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Scores generic behaviour, not verified delivery of a contract.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590288"/>
            <a:ext cx="3276295" cy="84124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4590288"/>
            <a:ext cx="45720" cy="841248"/>
          </a:xfrm>
          <a:prstGeom prst="rect">
            <a:avLst/>
          </a:prstGeom>
          <a:solidFill>
            <a:srgbClr val="C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0768" y="4736592"/>
            <a:ext cx="2727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EDE6"/>
                </a:solidFill>
                <a:latin typeface="Segoe UI"/>
              </a:rPr>
              <a:t>Marketplaces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4992624"/>
            <a:ext cx="270936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One transaction at a time. No aggregation, no compounding record.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5577840"/>
            <a:ext cx="3276295" cy="566928"/>
          </a:xfrm>
          <a:prstGeom prst="roundRect">
            <a:avLst>
              <a:gd name="adj" fmla="val 55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30768" y="5724144"/>
            <a:ext cx="2727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1EDE6"/>
                </a:solidFill>
                <a:latin typeface="Segoe UI"/>
              </a:rPr>
              <a:t>PLEXUS does all three at once.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04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7FA3F0-7D70-F816-7A72-3948D89FD20D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CF7050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F1EDE6"/>
                </a:solidFill>
                <a:latin typeface="Segoe UI"/>
              </a:rPr>
              <a:t>Run. Connect. Prove.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9344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 i="0">
                <a:solidFill>
                  <a:srgbClr val="8D877D"/>
                </a:solidFill>
                <a:latin typeface="Segoe UI"/>
              </a:rPr>
              <a:t>One operating layer for every small business — township shop, campus venture, workshop, supplier. Each layer feeds the next.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73909" y="2304288"/>
            <a:ext cx="7243877" cy="0"/>
          </a:xfrm>
          <a:prstGeom prst="line">
            <a:avLst/>
          </a:prstGeom>
          <a:ln w="15875">
            <a:solidFill>
              <a:srgbClr val="3A2C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82469" y="2212848"/>
            <a:ext cx="182880" cy="182880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2578608"/>
            <a:ext cx="3393338" cy="285292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578608"/>
            <a:ext cx="3393338" cy="50292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288950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spc="120">
                <a:solidFill>
                  <a:srgbClr val="CF7050"/>
                </a:solidFill>
                <a:latin typeface="Segoe UI"/>
              </a:rPr>
              <a:t>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2130" y="2871215"/>
            <a:ext cx="1054608" cy="256032"/>
          </a:xfrm>
          <a:prstGeom prst="roundRect">
            <a:avLst>
              <a:gd name="adj" fmla="val 50000"/>
            </a:avLst>
          </a:prstGeom>
          <a:solidFill>
            <a:srgbClr val="18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5AA17E"/>
                </a:solidFill>
                <a:latin typeface="Segoe UI"/>
              </a:rPr>
              <a:t>LIVE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236976"/>
            <a:ext cx="26252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Operate the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621024"/>
            <a:ext cx="262524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D877D"/>
                </a:solidFill>
                <a:latin typeface="Segoe UI"/>
              </a:rPr>
              <a:t>Inventory, POS, cash flow, suppliers, storefront and an AI coach — every transaction captured as structured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1202436" y="4713731"/>
            <a:ext cx="64008" cy="64008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99032" y="4663440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EDE6"/>
                </a:solidFill>
                <a:latin typeface="Segoe UI"/>
              </a:rPr>
              <a:t>Point of sale &amp; invoicing</a:t>
            </a:r>
          </a:p>
        </p:txBody>
      </p:sp>
      <p:sp>
        <p:nvSpPr>
          <p:cNvPr id="17" name="Oval 16"/>
          <p:cNvSpPr/>
          <p:nvPr/>
        </p:nvSpPr>
        <p:spPr>
          <a:xfrm>
            <a:off x="1202436" y="4960619"/>
            <a:ext cx="64008" cy="64008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99032" y="4910327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EDE6"/>
                </a:solidFill>
                <a:latin typeface="Segoe UI"/>
              </a:rPr>
              <a:t>Live stock &amp; cash flow</a:t>
            </a:r>
          </a:p>
        </p:txBody>
      </p:sp>
      <p:sp>
        <p:nvSpPr>
          <p:cNvPr id="19" name="Oval 18"/>
          <p:cNvSpPr/>
          <p:nvPr/>
        </p:nvSpPr>
        <p:spPr>
          <a:xfrm>
            <a:off x="1202436" y="5207507"/>
            <a:ext cx="64008" cy="64008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99032" y="5157216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EDE6"/>
                </a:solidFill>
                <a:latin typeface="Segoe UI"/>
              </a:rPr>
              <a:t>AI business coach</a:t>
            </a:r>
          </a:p>
        </p:txBody>
      </p:sp>
      <p:sp>
        <p:nvSpPr>
          <p:cNvPr id="21" name="Oval 20"/>
          <p:cNvSpPr/>
          <p:nvPr/>
        </p:nvSpPr>
        <p:spPr>
          <a:xfrm>
            <a:off x="6004407" y="2212848"/>
            <a:ext cx="182880" cy="182880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99178" y="2578608"/>
            <a:ext cx="3393338" cy="285292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99178" y="2578608"/>
            <a:ext cx="3393338" cy="50292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83226" y="288950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spc="120">
                <a:solidFill>
                  <a:srgbClr val="5AA17E"/>
                </a:solidFill>
                <a:latin typeface="Segoe UI"/>
              </a:rPr>
              <a:t>CONNECT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4068" y="2871215"/>
            <a:ext cx="597408" cy="256032"/>
          </a:xfrm>
          <a:prstGeom prst="roundRect">
            <a:avLst>
              <a:gd name="adj" fmla="val 50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5B574F"/>
                </a:solidFill>
                <a:latin typeface="Segoe UI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3226" y="3236976"/>
            <a:ext cx="26252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Find and fill 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3226" y="3621024"/>
            <a:ext cx="262524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D877D"/>
                </a:solidFill>
                <a:latin typeface="Segoe UI"/>
              </a:rPr>
              <a:t>Live matching of demand to real capacity — plus aggregation into contracts none could win alone.</a:t>
            </a:r>
          </a:p>
        </p:txBody>
      </p:sp>
      <p:sp>
        <p:nvSpPr>
          <p:cNvPr id="28" name="Oval 27"/>
          <p:cNvSpPr/>
          <p:nvPr/>
        </p:nvSpPr>
        <p:spPr>
          <a:xfrm>
            <a:off x="4824374" y="4713731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970" y="4663440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EDE6"/>
                </a:solidFill>
                <a:latin typeface="Segoe UI"/>
              </a:rPr>
              <a:t>Demand ↔ capacity matching</a:t>
            </a:r>
          </a:p>
        </p:txBody>
      </p:sp>
      <p:sp>
        <p:nvSpPr>
          <p:cNvPr id="30" name="Oval 29"/>
          <p:cNvSpPr/>
          <p:nvPr/>
        </p:nvSpPr>
        <p:spPr>
          <a:xfrm>
            <a:off x="4824374" y="4960619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0970" y="4910327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EDE6"/>
                </a:solidFill>
                <a:latin typeface="Segoe UI"/>
              </a:rPr>
              <a:t>Capacity aggregation</a:t>
            </a:r>
          </a:p>
        </p:txBody>
      </p:sp>
      <p:sp>
        <p:nvSpPr>
          <p:cNvPr id="32" name="Oval 31"/>
          <p:cNvSpPr/>
          <p:nvPr/>
        </p:nvSpPr>
        <p:spPr>
          <a:xfrm>
            <a:off x="4824374" y="5207507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0970" y="5157216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EDE6"/>
                </a:solidFill>
                <a:latin typeface="Segoe UI"/>
              </a:rPr>
              <a:t>AI team assembly</a:t>
            </a:r>
          </a:p>
        </p:txBody>
      </p:sp>
      <p:sp>
        <p:nvSpPr>
          <p:cNvPr id="34" name="Oval 33"/>
          <p:cNvSpPr/>
          <p:nvPr/>
        </p:nvSpPr>
        <p:spPr>
          <a:xfrm>
            <a:off x="9626346" y="2212848"/>
            <a:ext cx="182880" cy="18288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021116" y="2578608"/>
            <a:ext cx="3393338" cy="285292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21116" y="2578608"/>
            <a:ext cx="3393338" cy="50292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05164" y="288950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spc="120">
                <a:solidFill>
                  <a:srgbClr val="D9A441"/>
                </a:solidFill>
                <a:latin typeface="Segoe UI"/>
              </a:rPr>
              <a:t>PROVE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16007" y="2871215"/>
            <a:ext cx="597408" cy="256032"/>
          </a:xfrm>
          <a:prstGeom prst="roundRect">
            <a:avLst>
              <a:gd name="adj" fmla="val 50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5B574F"/>
                </a:solidFill>
                <a:latin typeface="Segoe UI"/>
              </a:rPr>
              <a:t>NEXT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5164" y="3236976"/>
            <a:ext cx="26252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Turn work into identity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5164" y="3621024"/>
            <a:ext cx="262524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D877D"/>
                </a:solidFill>
                <a:latin typeface="Segoe UI"/>
              </a:rPr>
              <a:t>Every fulfilled contract is verified by the buyer and written to a portable Business Passport that unlocks capital.</a:t>
            </a:r>
          </a:p>
        </p:txBody>
      </p:sp>
      <p:sp>
        <p:nvSpPr>
          <p:cNvPr id="41" name="Oval 40"/>
          <p:cNvSpPr/>
          <p:nvPr/>
        </p:nvSpPr>
        <p:spPr>
          <a:xfrm>
            <a:off x="8446312" y="4713731"/>
            <a:ext cx="64008" cy="64008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42908" y="4663440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EDE6"/>
                </a:solidFill>
                <a:latin typeface="Segoe UI"/>
              </a:rPr>
              <a:t>Counterparty-verified record</a:t>
            </a:r>
          </a:p>
        </p:txBody>
      </p:sp>
      <p:sp>
        <p:nvSpPr>
          <p:cNvPr id="43" name="Oval 42"/>
          <p:cNvSpPr/>
          <p:nvPr/>
        </p:nvSpPr>
        <p:spPr>
          <a:xfrm>
            <a:off x="8446312" y="4960619"/>
            <a:ext cx="64008" cy="64008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42908" y="4910327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EDE6"/>
                </a:solidFill>
                <a:latin typeface="Segoe UI"/>
              </a:rPr>
              <a:t>Credit score &amp; offers</a:t>
            </a:r>
          </a:p>
        </p:txBody>
      </p:sp>
      <p:sp>
        <p:nvSpPr>
          <p:cNvPr id="45" name="Oval 44"/>
          <p:cNvSpPr/>
          <p:nvPr/>
        </p:nvSpPr>
        <p:spPr>
          <a:xfrm>
            <a:off x="8446312" y="5207507"/>
            <a:ext cx="64008" cy="64008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42908" y="5157216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EDE6"/>
                </a:solidFill>
                <a:latin typeface="Segoe UI"/>
              </a:rPr>
              <a:t>Portable across markets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71500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1EDE6"/>
                </a:solidFill>
                <a:latin typeface="Segoe UI"/>
              </a:rPr>
              <a:t>The data you create by running your business is exactly what earns you contracts and capital.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05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4D4AE1-F38A-59DC-FE7E-7AB6C2F5ACC0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CF7050"/>
                </a:solidFill>
                <a:latin typeface="Segoe UI"/>
              </a:rPr>
              <a:t>LAYER 01 ·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1EDE6"/>
                </a:solidFill>
                <a:latin typeface="Segoe UI"/>
              </a:rPr>
              <a:t>A business operating system that fits in a pocket.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82970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D877D"/>
                </a:solidFill>
                <a:latin typeface="Segoe UI"/>
              </a:rPr>
              <a:t>Priced in Rand, WhatsApp-first, offline-tolerant and voice-operable — so anyone who can talk can run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3393338" cy="102412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2144" y="2706624"/>
            <a:ext cx="384048" cy="384048"/>
          </a:xfrm>
          <a:prstGeom prst="ellipse">
            <a:avLst/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144" y="2779776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F7050"/>
                </a:solidFill>
                <a:latin typeface="Segoe UI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1" y="2752344"/>
            <a:ext cx="202173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EDE6"/>
                </a:solidFill>
                <a:latin typeface="Segoe UI"/>
              </a:rPr>
              <a:t>Sales / 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231" y="3026664"/>
            <a:ext cx="19760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Fast checkout, auto-invoice, tax and PDF receipts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2514600"/>
            <a:ext cx="3393338" cy="102412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74082" y="2706624"/>
            <a:ext cx="384048" cy="384048"/>
          </a:xfrm>
          <a:prstGeom prst="ellipse">
            <a:avLst/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4082" y="2779776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F7050"/>
                </a:solidFill>
                <a:latin typeface="Segoe U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8170" y="2752344"/>
            <a:ext cx="202173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EDE6"/>
                </a:solidFill>
                <a:latin typeface="Segoe UI"/>
              </a:rP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8170" y="3026664"/>
            <a:ext cx="19760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Live stock, reorder levels, movement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1116" y="2514600"/>
            <a:ext cx="3393338" cy="102412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96020" y="2706624"/>
            <a:ext cx="384048" cy="384048"/>
          </a:xfrm>
          <a:prstGeom prst="ellipse">
            <a:avLst/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6020" y="2779776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F7050"/>
                </a:solidFill>
                <a:latin typeface="Segoe UI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0108" y="2752344"/>
            <a:ext cx="202173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EDE6"/>
                </a:solidFill>
                <a:latin typeface="Segoe UI"/>
              </a:rPr>
              <a:t>Cash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0108" y="3026664"/>
            <a:ext cx="19760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Income vs expenses, margin, receivables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85032"/>
            <a:ext cx="3393338" cy="102412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52144" y="3877056"/>
            <a:ext cx="384048" cy="384048"/>
          </a:xfrm>
          <a:prstGeom prst="ellipse">
            <a:avLst/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52144" y="395020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F7050"/>
                </a:solidFill>
                <a:latin typeface="Segoe UI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56231" y="3922776"/>
            <a:ext cx="202173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EDE6"/>
                </a:solidFill>
                <a:latin typeface="Segoe UI"/>
              </a:rPr>
              <a:t>Suppliers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6231" y="4197096"/>
            <a:ext cx="19760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Directory and low-stock purchase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99178" y="3685032"/>
            <a:ext cx="3393338" cy="102412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74082" y="3877056"/>
            <a:ext cx="384048" cy="384048"/>
          </a:xfrm>
          <a:prstGeom prst="ellipse">
            <a:avLst/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74082" y="395020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F7050"/>
                </a:solidFill>
                <a:latin typeface="Segoe UI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8170" y="3922776"/>
            <a:ext cx="202173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EDE6"/>
                </a:solidFill>
                <a:latin typeface="Segoe UI"/>
              </a:rPr>
              <a:t>Storefront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8170" y="4197096"/>
            <a:ext cx="19760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A public shop on a shareable link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1116" y="3685032"/>
            <a:ext cx="3393338" cy="102412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96020" y="3877056"/>
            <a:ext cx="384048" cy="384048"/>
          </a:xfrm>
          <a:prstGeom prst="ellipse">
            <a:avLst/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96020" y="395020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F7050"/>
                </a:solidFill>
                <a:latin typeface="Segoe UI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0108" y="3922776"/>
            <a:ext cx="202173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EDE6"/>
                </a:solidFill>
                <a:latin typeface="Segoe UI"/>
              </a:rPr>
              <a:t>AI coach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0108" y="4197096"/>
            <a:ext cx="197601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Chat and voice, reading your live numbers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029200"/>
            <a:ext cx="10637215" cy="1051560"/>
          </a:xfrm>
          <a:prstGeom prst="roundRect">
            <a:avLst>
              <a:gd name="adj" fmla="val 55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" y="5029200"/>
            <a:ext cx="50292" cy="1051560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34440" y="521208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EDE6"/>
                </a:solidFill>
                <a:latin typeface="Segoe UI"/>
              </a:rPr>
              <a:t>This layer is built and working today.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522976"/>
            <a:ext cx="96313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8D877D"/>
                </a:solidFill>
                <a:latin typeface="Segoe UI"/>
              </a:rPr>
              <a:t>Offline-first writes, atomic stock transactions that can't oversell, default-deny security rules, and AI that degrades gracefully when quota runs out.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06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4FABFB-C72B-90DE-0317-A59264BBF089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5AA17E"/>
                </a:solidFill>
                <a:latin typeface="Segoe UI"/>
              </a:rPr>
              <a:t>LAYER 02 ·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1EDE6"/>
                </a:solidFill>
                <a:latin typeface="Segoe UI"/>
              </a:rPr>
              <a:t>The network that finds work — or creates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82970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D877D"/>
                </a:solidFill>
                <a:latin typeface="Segoe UI"/>
              </a:rPr>
              <a:t>Matching is table stakes. Aggregation and team assembly are what no one else does.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3393338" cy="278892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487168"/>
            <a:ext cx="3393338" cy="50292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8163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100">
                <a:solidFill>
                  <a:srgbClr val="5AA17E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26252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1EDE6"/>
                </a:solidFill>
                <a:latin typeface="Segoe UI"/>
              </a:rPr>
              <a:t>Demand ↔ capacity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822191"/>
            <a:ext cx="262524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D877D"/>
                </a:solidFill>
                <a:latin typeface="Segoe UI"/>
              </a:rPr>
              <a:t>Buyers post real demand. PLEXUS matches it against live, verified capacity — not self-reported profiles.</a:t>
            </a:r>
          </a:p>
        </p:txBody>
      </p:sp>
      <p:sp>
        <p:nvSpPr>
          <p:cNvPr id="12" name="Oval 11"/>
          <p:cNvSpPr/>
          <p:nvPr/>
        </p:nvSpPr>
        <p:spPr>
          <a:xfrm>
            <a:off x="1202436" y="4750308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99032" y="4700016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Real stock and throughput data</a:t>
            </a:r>
          </a:p>
        </p:txBody>
      </p:sp>
      <p:sp>
        <p:nvSpPr>
          <p:cNvPr id="14" name="Oval 13"/>
          <p:cNvSpPr/>
          <p:nvPr/>
        </p:nvSpPr>
        <p:spPr>
          <a:xfrm>
            <a:off x="1202436" y="4997196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99032" y="4946904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Ranked by proven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9178" y="2487168"/>
            <a:ext cx="3393338" cy="278892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99178" y="2487168"/>
            <a:ext cx="3393338" cy="50292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83226" y="28163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100">
                <a:solidFill>
                  <a:srgbClr val="5AA17E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3226" y="3163824"/>
            <a:ext cx="26252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1EDE6"/>
                </a:solidFill>
                <a:latin typeface="Segoe UI"/>
              </a:rPr>
              <a:t>Capacity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3226" y="3822191"/>
            <a:ext cx="262524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D877D"/>
                </a:solidFill>
                <a:latin typeface="Segoe UI"/>
              </a:rPr>
              <a:t>When no single business can fill an order, PLEXUS combines several into one contract with one invoice.</a:t>
            </a:r>
          </a:p>
        </p:txBody>
      </p:sp>
      <p:sp>
        <p:nvSpPr>
          <p:cNvPr id="21" name="Oval 20"/>
          <p:cNvSpPr/>
          <p:nvPr/>
        </p:nvSpPr>
        <p:spPr>
          <a:xfrm>
            <a:off x="4824374" y="4750308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0970" y="4700016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Unlocks tenders and corporate orders</a:t>
            </a:r>
          </a:p>
        </p:txBody>
      </p:sp>
      <p:sp>
        <p:nvSpPr>
          <p:cNvPr id="23" name="Oval 22"/>
          <p:cNvSpPr/>
          <p:nvPr/>
        </p:nvSpPr>
        <p:spPr>
          <a:xfrm>
            <a:off x="4824374" y="4997196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0970" y="4946904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Split by verified capacity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1116" y="2487168"/>
            <a:ext cx="3393338" cy="278892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21116" y="2487168"/>
            <a:ext cx="3393338" cy="50292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05164" y="28163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100">
                <a:solidFill>
                  <a:srgbClr val="5AA17E"/>
                </a:solidFill>
                <a:latin typeface="Segoe U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5164" y="3163824"/>
            <a:ext cx="26252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1EDE6"/>
                </a:solidFill>
                <a:latin typeface="Segoe UI"/>
              </a:rPr>
              <a:t>AI team assembly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5164" y="3822191"/>
            <a:ext cx="262524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D877D"/>
                </a:solidFill>
                <a:latin typeface="Segoe UI"/>
              </a:rPr>
              <a:t>When demand exists and nobody can supply it, PLEXUS proposes a founding team from skills on the network.</a:t>
            </a:r>
          </a:p>
        </p:txBody>
      </p:sp>
      <p:sp>
        <p:nvSpPr>
          <p:cNvPr id="30" name="Oval 29"/>
          <p:cNvSpPr/>
          <p:nvPr/>
        </p:nvSpPr>
        <p:spPr>
          <a:xfrm>
            <a:off x="8446312" y="4750308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42908" y="4700016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Creates supply where none exists</a:t>
            </a:r>
          </a:p>
        </p:txBody>
      </p:sp>
      <p:sp>
        <p:nvSpPr>
          <p:cNvPr id="32" name="Oval 31"/>
          <p:cNvSpPr/>
          <p:nvPr/>
        </p:nvSpPr>
        <p:spPr>
          <a:xfrm>
            <a:off x="8446312" y="4997196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2908" y="4946904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A venture studio, always running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376672"/>
            <a:ext cx="10637215" cy="804672"/>
          </a:xfrm>
          <a:prstGeom prst="roundRect">
            <a:avLst>
              <a:gd name="adj" fmla="val 55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34440" y="552297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spc="140">
                <a:solidFill>
                  <a:srgbClr val="5B574F"/>
                </a:solidFill>
                <a:latin typeface="Segoe UI"/>
              </a:rPr>
              <a:t>WHO THIS SERVES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" y="5779008"/>
            <a:ext cx="1647274" cy="292608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1EDE6"/>
                </a:solidFill>
                <a:latin typeface="Segoe UI"/>
              </a:rPr>
              <a:t>Informal traders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91442" y="5779008"/>
            <a:ext cx="1562608" cy="292608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1EDE6"/>
                </a:solidFill>
                <a:latin typeface="Segoe UI"/>
              </a:rPr>
              <a:t>Campus ventures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778" y="5779008"/>
            <a:ext cx="1901274" cy="292608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1EDE6"/>
                </a:solidFill>
                <a:latin typeface="Segoe UI"/>
              </a:rPr>
              <a:t>Small manufacturers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4781" y="5779008"/>
            <a:ext cx="1731941" cy="292608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1EDE6"/>
                </a:solidFill>
                <a:latin typeface="Segoe UI"/>
              </a:rPr>
              <a:t>Service providers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16450" y="5779008"/>
            <a:ext cx="2409274" cy="292608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1EDE6"/>
                </a:solidFill>
                <a:latin typeface="Segoe UI"/>
              </a:rPr>
              <a:t>Corporate &amp; public buyers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07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8DEF7E-A012-3F38-4770-4056F139404E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D9A441"/>
                </a:solidFill>
                <a:latin typeface="Segoe UI"/>
              </a:rPr>
              <a:t>LAYER 03 · 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1EDE6"/>
                </a:solidFill>
                <a:latin typeface="Segoe UI"/>
              </a:rPr>
              <a:t>The Business Passport.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82970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D877D"/>
                </a:solidFill>
                <a:latin typeface="Segoe UI"/>
              </a:rPr>
              <a:t>Every fulfilled contract is verified by the buyer, not self-reported. Operational depth plus counterparty proof — a financial identity that travels.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5532120" cy="278892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606040"/>
            <a:ext cx="5532120" cy="50292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916936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D9A441"/>
                </a:solidFill>
                <a:latin typeface="Segoe UI"/>
              </a:rPr>
              <a:t>BUSINESS PASSPORT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288036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 spc="110">
                <a:solidFill>
                  <a:srgbClr val="5AA17E"/>
                </a:solidFill>
                <a:latin typeface="Segoe UI"/>
              </a:rPr>
              <a:t>VERIFIED</a:t>
            </a:r>
          </a:p>
        </p:txBody>
      </p:sp>
      <p:sp>
        <p:nvSpPr>
          <p:cNvPr id="11" name="Oval 10"/>
          <p:cNvSpPr/>
          <p:nvPr/>
        </p:nvSpPr>
        <p:spPr>
          <a:xfrm>
            <a:off x="4722875" y="2939796"/>
            <a:ext cx="137160" cy="137160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326440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1EDE6"/>
                </a:solidFill>
                <a:latin typeface="Segoe UI"/>
              </a:rPr>
              <a:t>Ubuntu Textiles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666744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D877D"/>
                </a:solidFill>
                <a:latin typeface="Segoe UI"/>
              </a:rPr>
              <a:t>Garment manufacturing · Gauteng · trading 3 yrs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34440" y="4023360"/>
            <a:ext cx="4617719" cy="0"/>
          </a:xfrm>
          <a:prstGeom prst="line">
            <a:avLst/>
          </a:prstGeom>
          <a:ln w="15875">
            <a:solidFill>
              <a:srgbClr val="2A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34440" y="4178808"/>
            <a:ext cx="101727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9A441"/>
                </a:solidFill>
                <a:latin typeface="Segoe UI"/>
              </a:rP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99432"/>
            <a:ext cx="10172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B574F"/>
                </a:solidFill>
                <a:latin typeface="Segoe UI"/>
              </a:rPr>
              <a:t>contracts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B574F"/>
                </a:solidFill>
                <a:latin typeface="Segoe UI"/>
              </a:rPr>
              <a:t>fulfilled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8870" y="4178808"/>
            <a:ext cx="101727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9A441"/>
                </a:solidFill>
                <a:latin typeface="Segoe UI"/>
              </a:rPr>
              <a:t>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8870" y="4599432"/>
            <a:ext cx="10172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B574F"/>
                </a:solidFill>
                <a:latin typeface="Segoe UI"/>
              </a:rPr>
              <a:t>delivered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B574F"/>
                </a:solidFill>
                <a:latin typeface="Segoe UI"/>
              </a:rPr>
              <a:t>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4178808"/>
            <a:ext cx="101727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9A441"/>
                </a:solidFill>
                <a:latin typeface="Segoe UI"/>
              </a:rPr>
              <a:t>R2.4m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3300" y="4599432"/>
            <a:ext cx="10172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B574F"/>
                </a:solidFill>
                <a:latin typeface="Segoe UI"/>
              </a:rPr>
              <a:t>value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B574F"/>
                </a:solidFill>
                <a:latin typeface="Segoe UI"/>
              </a:rPr>
              <a:t>delivered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7729" y="4178808"/>
            <a:ext cx="101727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9A441"/>
                </a:solidFill>
                <a:latin typeface="Segoe U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7729" y="4599432"/>
            <a:ext cx="10172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B574F"/>
                </a:solidFill>
                <a:latin typeface="Segoe UI"/>
              </a:rPr>
              <a:t>buyers who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B574F"/>
                </a:solidFill>
                <a:latin typeface="Segoe UI"/>
              </a:rPr>
              <a:t>re-ordered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056632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574F"/>
                </a:solidFill>
                <a:latin typeface="Segoe UI"/>
              </a:rPr>
              <a:t>Signed off by each buyer at delivery — not typed in by the seller.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624328"/>
            <a:ext cx="47393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5B574F"/>
                </a:solidFill>
                <a:latin typeface="Segoe UI"/>
              </a:rPr>
              <a:t>WHAT THE PASSPORT UNLOCKS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971800"/>
            <a:ext cx="4739335" cy="73152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75120" y="2971800"/>
            <a:ext cx="45720" cy="7315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67728" y="3099816"/>
            <a:ext cx="41906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EDE6"/>
                </a:solidFill>
                <a:latin typeface="Segoe UI"/>
              </a:rPr>
              <a:t>Capital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3355848"/>
            <a:ext cx="41724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D877D"/>
                </a:solidFill>
                <a:latin typeface="Segoe UI"/>
              </a:rPr>
              <a:t>Credit and revenue-share investment priced off delivery data, not a credit bureau file.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3794760"/>
            <a:ext cx="4739335" cy="73152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75120" y="3794760"/>
            <a:ext cx="45720" cy="731520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67728" y="3922776"/>
            <a:ext cx="41906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EDE6"/>
                </a:solidFill>
                <a:latin typeface="Segoe UI"/>
              </a:rPr>
              <a:t>Contracts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4178808"/>
            <a:ext cx="41724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D877D"/>
                </a:solidFill>
                <a:latin typeface="Segoe UI"/>
              </a:rPr>
              <a:t>Buyers can trust an unknown supplier, because the record is verified by other buyers.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4617720"/>
            <a:ext cx="4739335" cy="73152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75120" y="4617720"/>
            <a:ext cx="45720" cy="731520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67728" y="4745736"/>
            <a:ext cx="41906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EDE6"/>
                </a:solidFill>
                <a:latin typeface="Segoe UI"/>
              </a:rPr>
              <a:t>New markets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5001768"/>
            <a:ext cx="417240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D877D"/>
                </a:solidFill>
                <a:latin typeface="Segoe UI"/>
              </a:rPr>
              <a:t>Reputation stands in for the trade paperwork a small business could never produce.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2356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1EDE6"/>
                </a:solidFill>
                <a:latin typeface="Segoe UI"/>
              </a:rPr>
              <a:t>This is the fusion: the record is deep because you run on PLEXUS, and trusted because your buyers signed 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08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C6AE19-8E4A-FC6A-064E-B4BA6DA22D80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D9A441"/>
                </a:solidFill>
                <a:latin typeface="Segoe UI"/>
              </a:rPr>
              <a:t>OUTCOME 01 · ACCESS TO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1EDE6"/>
                </a:solidFill>
                <a:latin typeface="Segoe UI"/>
              </a:rPr>
              <a:t>Creditworthy, and finally provable.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82970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D877D"/>
                </a:solidFill>
                <a:latin typeface="Segoe UI"/>
              </a:rPr>
              <a:t>SMEs are creditworthy but unbankable: no records means no risk assessment, which means no capital.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70048"/>
            <a:ext cx="4114800" cy="301752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96265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5B574F"/>
                </a:solidFill>
                <a:latin typeface="Segoe UI"/>
              </a:rPr>
              <a:t>PLEXUS CREDIT SCORE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143000" y="3218688"/>
          <a:ext cx="228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43000" y="40233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1EDE6"/>
                </a:solidFill>
                <a:latin typeface="Segoe UI"/>
              </a:rPr>
              <a:t>742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60857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B574F"/>
                </a:solidFill>
                <a:latin typeface="Segoe UI"/>
              </a:rPr>
              <a:t>out of 850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4087368"/>
            <a:ext cx="960120" cy="475488"/>
          </a:xfrm>
          <a:prstGeom prst="roundRect">
            <a:avLst>
              <a:gd name="adj" fmla="val 28000"/>
            </a:avLst>
          </a:prstGeom>
          <a:solidFill>
            <a:srgbClr val="2B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419709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D9A441"/>
                </a:solidFill>
                <a:latin typeface="Segoe UI"/>
              </a:rPr>
              <a:t>A−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4617720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 spc="120">
                <a:solidFill>
                  <a:srgbClr val="5B574F"/>
                </a:solidFill>
                <a:latin typeface="Segoe UI"/>
              </a:rPr>
              <a:t>GRADE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670048"/>
            <a:ext cx="6248095" cy="301752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296265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5B574F"/>
                </a:solidFill>
                <a:latin typeface="Segoe UI"/>
              </a:rPr>
              <a:t>WHAT MOVES THE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296265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 spc="120">
                <a:solidFill>
                  <a:srgbClr val="5B574F"/>
                </a:solidFill>
                <a:latin typeface="Segoe UI"/>
              </a:rPr>
              <a:t>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364991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1EDE6"/>
                </a:solidFill>
                <a:latin typeface="Segoe UI"/>
              </a:rPr>
              <a:t>Verified fulfilment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3428999"/>
            <a:ext cx="2041855" cy="118872"/>
          </a:xfrm>
          <a:prstGeom prst="rect">
            <a:avLst/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35240" y="3428999"/>
            <a:ext cx="1919343" cy="118872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22815" y="3364991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F1EDE6"/>
                </a:solidFill>
                <a:latin typeface="Segoe UI"/>
              </a:rPr>
              <a:t>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5735" y="3364991"/>
            <a:ext cx="594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574F"/>
                </a:solidFill>
                <a:latin typeface="Segoe UI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785615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1EDE6"/>
                </a:solidFill>
                <a:latin typeface="Segoe UI"/>
              </a:rPr>
              <a:t>Payment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3849624"/>
            <a:ext cx="2041855" cy="118872"/>
          </a:xfrm>
          <a:prstGeom prst="rect">
            <a:avLst/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3849624"/>
            <a:ext cx="1878506" cy="118872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22815" y="3785615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F1EDE6"/>
                </a:solidFill>
                <a:latin typeface="Segoe UI"/>
              </a:rPr>
              <a:t>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5735" y="3785615"/>
            <a:ext cx="594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574F"/>
                </a:solidFill>
                <a:latin typeface="Segoe UI"/>
              </a:rPr>
              <a:t>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20624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1EDE6"/>
                </a:solidFill>
                <a:latin typeface="Segoe UI"/>
              </a:rPr>
              <a:t>Cash-flow stability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4270248"/>
            <a:ext cx="2041855" cy="118872"/>
          </a:xfrm>
          <a:prstGeom prst="rect">
            <a:avLst/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635240" y="4270248"/>
            <a:ext cx="1592647" cy="118872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22815" y="420624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F1EDE6"/>
                </a:solidFill>
                <a:latin typeface="Segoe UI"/>
              </a:rPr>
              <a:t>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5735" y="4206240"/>
            <a:ext cx="594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574F"/>
                </a:solidFill>
                <a:latin typeface="Segoe UI"/>
              </a:rPr>
              <a:t>20%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626864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1EDE6"/>
                </a:solidFill>
                <a:latin typeface="Segoe UI"/>
              </a:rPr>
              <a:t>On-time delivery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4690872"/>
            <a:ext cx="2041855" cy="118872"/>
          </a:xfrm>
          <a:prstGeom prst="rect">
            <a:avLst/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35240" y="4690872"/>
            <a:ext cx="1796832" cy="118872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22815" y="4626864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F1EDE6"/>
                </a:solidFill>
                <a:latin typeface="Segoe UI"/>
              </a:rPr>
              <a:t>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5735" y="4626864"/>
            <a:ext cx="594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574F"/>
                </a:solidFill>
                <a:latin typeface="Segoe UI"/>
              </a:rPr>
              <a:t>15%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504748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1EDE6"/>
                </a:solidFill>
                <a:latin typeface="Segoe UI"/>
              </a:rPr>
              <a:t>Inventory turnover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5111496"/>
            <a:ext cx="2041855" cy="118872"/>
          </a:xfrm>
          <a:prstGeom prst="rect">
            <a:avLst/>
          </a:prstGeom>
          <a:solidFill>
            <a:srgbClr val="28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635240" y="5111496"/>
            <a:ext cx="1449717" cy="118872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22815" y="504748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F1EDE6"/>
                </a:solidFill>
                <a:latin typeface="Segoe UI"/>
              </a:rPr>
              <a:t>71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5735" y="5047488"/>
            <a:ext cx="594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574F"/>
                </a:solidFill>
                <a:latin typeface="Segoe UI"/>
              </a:rPr>
              <a:t>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5340096"/>
            <a:ext cx="54251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9A441"/>
                </a:solidFill>
                <a:latin typeface="Segoe UI"/>
              </a:rPr>
              <a:t>The heaviest factor is the one only PLEXUS can see: work you verifiably delivered.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09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38FDD9-8C8C-911F-62BD-33A1F89BA9B7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D9A441"/>
                </a:solidFill>
                <a:latin typeface="Segoe UI"/>
              </a:rPr>
              <a:t>OUTCOME 01 · ACCESS TO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1EDE6"/>
                </a:solidFill>
                <a:latin typeface="Segoe UI"/>
              </a:rPr>
              <a:t>Two ways to turn a record into capital.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12848"/>
            <a:ext cx="5135727" cy="1874519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5135727" cy="50292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50545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CF7050"/>
                </a:solidFill>
                <a:latin typeface="Segoe UI"/>
              </a:rPr>
              <a:t>BORROW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79776"/>
            <a:ext cx="431276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Pre-qualified finance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182112"/>
            <a:ext cx="1364437" cy="713232"/>
          </a:xfrm>
          <a:prstGeom prst="roundRect">
            <a:avLst>
              <a:gd name="adj" fmla="val 12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35024" y="3273552"/>
            <a:ext cx="110840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80">
                <a:solidFill>
                  <a:srgbClr val="5B574F"/>
                </a:solidFill>
                <a:latin typeface="Segoe UI"/>
              </a:rPr>
              <a:t>MICRO-LOAN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3474720"/>
            <a:ext cx="109011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R25,000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712463"/>
            <a:ext cx="109011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12% p.a.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2885" y="3182112"/>
            <a:ext cx="1364437" cy="713232"/>
          </a:xfrm>
          <a:prstGeom prst="roundRect">
            <a:avLst>
              <a:gd name="adj" fmla="val 12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09189" y="3273552"/>
            <a:ext cx="110840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80">
                <a:solidFill>
                  <a:srgbClr val="5B574F"/>
                </a:solidFill>
                <a:latin typeface="Segoe UI"/>
              </a:rPr>
              <a:t>STOCK BNPL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9189" y="3474720"/>
            <a:ext cx="109011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R15,000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9189" y="3712463"/>
            <a:ext cx="109011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0% · 30 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37050" y="3182112"/>
            <a:ext cx="1364437" cy="713232"/>
          </a:xfrm>
          <a:prstGeom prst="roundRect">
            <a:avLst>
              <a:gd name="adj" fmla="val 12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83354" y="3273552"/>
            <a:ext cx="110840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spc="80">
                <a:solidFill>
                  <a:srgbClr val="5B574F"/>
                </a:solidFill>
                <a:latin typeface="Segoe UI"/>
              </a:rPr>
              <a:t>WORKING CAP.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3354" y="3474720"/>
            <a:ext cx="109011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R50,000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3354" y="3712463"/>
            <a:ext cx="109011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15% p.a.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2212848"/>
            <a:ext cx="5135727" cy="1874519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78727" y="2212848"/>
            <a:ext cx="5135727" cy="50292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90207" y="250545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D9A441"/>
                </a:solidFill>
                <a:latin typeface="Segoe UI"/>
              </a:rPr>
              <a:t>RAISE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0207" y="2779776"/>
            <a:ext cx="431276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Revenue-share stake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0207" y="3163824"/>
            <a:ext cx="431276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D877D"/>
                </a:solidFill>
                <a:latin typeface="Segoe UI"/>
              </a:rPr>
              <a:t>A proven Passport becomes the pricing basis for a micro revenue-share stake — capital raised against delivery data instead of collateral, with no debt and no equity lost.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97679"/>
            <a:ext cx="106372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5B574F"/>
                </a:solidFill>
                <a:latin typeface="Segoe UI"/>
              </a:rPr>
              <a:t>HOW THE RECORD COMPOUNDS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90288"/>
            <a:ext cx="1834835" cy="120700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511777" y="4791455"/>
            <a:ext cx="365760" cy="365760"/>
          </a:xfrm>
          <a:prstGeom prst="ellipse">
            <a:avLst/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873751"/>
            <a:ext cx="18348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F7050"/>
                </a:solidFill>
                <a:latin typeface="Segoe U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248655"/>
            <a:ext cx="16519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1EDE6"/>
                </a:solidFill>
                <a:latin typeface="Segoe UI"/>
              </a:rPr>
              <a:t>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495544"/>
            <a:ext cx="16519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Daily trade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captured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676083" y="5138927"/>
            <a:ext cx="237744" cy="128016"/>
          </a:xfrm>
          <a:prstGeom prst="rightArrow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977835" y="4590288"/>
            <a:ext cx="1834835" cy="120700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712372" y="4791455"/>
            <a:ext cx="365760" cy="365760"/>
          </a:xfrm>
          <a:prstGeom prst="ellipse">
            <a:avLst/>
          </a:prstGeom>
          <a:solidFill>
            <a:srgbClr val="18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77835" y="4873751"/>
            <a:ext cx="18348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AA17E"/>
                </a:solidFill>
                <a:latin typeface="Segoe U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9275" y="5248655"/>
            <a:ext cx="16519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1EDE6"/>
                </a:solidFill>
                <a:latin typeface="Segoe UI"/>
              </a:rPr>
              <a:t>Fulfil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9275" y="5495544"/>
            <a:ext cx="16519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Contract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delivered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876678" y="5138927"/>
            <a:ext cx="237744" cy="128016"/>
          </a:xfrm>
          <a:prstGeom prst="rightArrow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178430" y="4590288"/>
            <a:ext cx="1834835" cy="120700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912967" y="4791455"/>
            <a:ext cx="365760" cy="365760"/>
          </a:xfrm>
          <a:prstGeom prst="ellipse">
            <a:avLst/>
          </a:prstGeom>
          <a:solidFill>
            <a:srgbClr val="18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78430" y="4873751"/>
            <a:ext cx="18348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AA17E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69870" y="5248655"/>
            <a:ext cx="16519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1EDE6"/>
                </a:solidFill>
                <a:latin typeface="Segoe UI"/>
              </a:rPr>
              <a:t>Verify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9870" y="5495544"/>
            <a:ext cx="16519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Buyer signs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it off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077273" y="5138927"/>
            <a:ext cx="237744" cy="128016"/>
          </a:xfrm>
          <a:prstGeom prst="rightArrow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379025" y="4590288"/>
            <a:ext cx="1834835" cy="120700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113562" y="4791455"/>
            <a:ext cx="365760" cy="365760"/>
          </a:xfrm>
          <a:prstGeom prst="ellipse">
            <a:avLst/>
          </a:prstGeom>
          <a:solidFill>
            <a:srgbClr val="2B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79025" y="4873751"/>
            <a:ext cx="18348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A441"/>
                </a:solidFill>
                <a:latin typeface="Segoe U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70465" y="5248655"/>
            <a:ext cx="16519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1EDE6"/>
                </a:solidFill>
                <a:latin typeface="Segoe UI"/>
              </a:rPr>
              <a:t>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70465" y="5495544"/>
            <a:ext cx="16519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Passport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strengthens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9277868" y="5138927"/>
            <a:ext cx="237744" cy="128016"/>
          </a:xfrm>
          <a:prstGeom prst="rightArrow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579620" y="4590288"/>
            <a:ext cx="1834835" cy="120700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314157" y="4791455"/>
            <a:ext cx="365760" cy="365760"/>
          </a:xfrm>
          <a:prstGeom prst="ellipse">
            <a:avLst/>
          </a:prstGeom>
          <a:solidFill>
            <a:srgbClr val="2B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79620" y="4873751"/>
            <a:ext cx="18348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A441"/>
                </a:solidFill>
                <a:latin typeface="Segoe U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71060" y="5248655"/>
            <a:ext cx="16519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1EDE6"/>
                </a:solidFill>
                <a:latin typeface="Segoe UI"/>
              </a:rPr>
              <a:t>Fund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71060" y="5495544"/>
            <a:ext cx="16519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Better rates,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8D877D"/>
                </a:solidFill>
                <a:latin typeface="Segoe UI"/>
              </a:rPr>
              <a:t>bigger orders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7443F3-A820-E3F9-4289-B919E7445FA5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CF7050"/>
                </a:solidFill>
                <a:latin typeface="Segoe UI"/>
              </a:rPr>
              <a:t>OUTCOME 02 ·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1EDE6"/>
                </a:solidFill>
                <a:latin typeface="Segoe UI"/>
              </a:rPr>
              <a:t>Decisions, not dashboards.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82970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D877D"/>
                </a:solidFill>
                <a:latin typeface="Segoe UI"/>
              </a:rPr>
              <a:t>SMEs collect no data, so every decision is a guess — what to stock, what to charge, who to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6309360" cy="301752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5B574F"/>
                </a:solidFill>
                <a:latin typeface="Segoe UI"/>
              </a:rPr>
              <a:t>PEER BENCHMARKING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60120" y="3063240"/>
          <a:ext cx="59436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06640" y="2606040"/>
            <a:ext cx="4007815" cy="93268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80959" y="2807208"/>
            <a:ext cx="256032" cy="256032"/>
          </a:xfrm>
          <a:prstGeom prst="ellipse">
            <a:avLst/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282549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F7050"/>
                </a:solidFill>
                <a:latin typeface="Segoe UI"/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2788920"/>
            <a:ext cx="3001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EDE6"/>
                </a:solidFill>
                <a:latin typeface="Segoe UI"/>
              </a:rPr>
              <a:t>Ranked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1" y="306324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Bundling, pricing and staffing moves — each with projected Rand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648456"/>
            <a:ext cx="4007815" cy="93268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680959" y="3849624"/>
            <a:ext cx="256032" cy="256032"/>
          </a:xfrm>
          <a:prstGeom prst="ellipse">
            <a:avLst/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3867912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F7050"/>
                </a:solidFill>
                <a:latin typeface="Segoe U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3831336"/>
            <a:ext cx="3001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EDE6"/>
                </a:solidFill>
                <a:latin typeface="Segoe UI"/>
              </a:rPr>
              <a:t>Anomaly &amp; fraud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1" y="4105656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Refund patterns, dead stock and underpriced products, flagged early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4690872"/>
            <a:ext cx="4007815" cy="932688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680959" y="4892040"/>
            <a:ext cx="256032" cy="256032"/>
          </a:xfrm>
          <a:prstGeom prst="ellipse">
            <a:avLst/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0" y="4910328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F7050"/>
                </a:solidFill>
                <a:latin typeface="Segoe UI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1" y="4873752"/>
            <a:ext cx="30019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EDE6"/>
                </a:solidFill>
                <a:latin typeface="Segoe UI"/>
              </a:rPr>
              <a:t>Demand 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5148072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Seven days ahead, with payday and weekend patterns priced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70448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1EDE6"/>
                </a:solidFill>
                <a:latin typeface="Segoe UI"/>
              </a:rPr>
              <a:t>Benchmarks get sharper as the network grows — every business is scored against real peers, not a textbook.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F2BC0E-5744-5D81-F494-C49258BD023D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5AA17E"/>
                </a:solidFill>
                <a:latin typeface="Segoe UI"/>
              </a:rPr>
              <a:t>OUTCOME 03 · MARKET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1EDE6"/>
                </a:solidFill>
                <a:latin typeface="Segoe UI"/>
              </a:rPr>
              <a:t>Three doors into a market, not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82970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D877D"/>
                </a:solidFill>
                <a:latin typeface="Segoe UI"/>
              </a:rPr>
              <a:t>Websites are expensive, apps are out of reach, and tenders demand a scale no single small business has.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3393338" cy="292608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3393338" cy="50292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7980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100">
                <a:solidFill>
                  <a:srgbClr val="CF7050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45536"/>
            <a:ext cx="26252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1EDE6"/>
                </a:solidFill>
                <a:latin typeface="Segoe UI"/>
              </a:rPr>
              <a:t>Your own storefront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803904"/>
            <a:ext cx="262524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D877D"/>
                </a:solidFill>
                <a:latin typeface="Segoe UI"/>
              </a:rPr>
              <a:t>One tap publishes a live shop at a shareable link — orders arrive on WhatsApp, pre-filled.</a:t>
            </a:r>
          </a:p>
        </p:txBody>
      </p:sp>
      <p:sp>
        <p:nvSpPr>
          <p:cNvPr id="12" name="Oval 11"/>
          <p:cNvSpPr/>
          <p:nvPr/>
        </p:nvSpPr>
        <p:spPr>
          <a:xfrm>
            <a:off x="1202436" y="4860036"/>
            <a:ext cx="64008" cy="64008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99032" y="4809744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Stock-clamped cart</a:t>
            </a:r>
          </a:p>
        </p:txBody>
      </p:sp>
      <p:sp>
        <p:nvSpPr>
          <p:cNvPr id="14" name="Oval 13"/>
          <p:cNvSpPr/>
          <p:nvPr/>
        </p:nvSpPr>
        <p:spPr>
          <a:xfrm>
            <a:off x="1202436" y="5106923"/>
            <a:ext cx="64008" cy="64008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99032" y="5056631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Auto re-publishes as stock 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9178" y="2468880"/>
            <a:ext cx="3393338" cy="292608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99178" y="2468880"/>
            <a:ext cx="3393338" cy="50292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83226" y="27980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100">
                <a:solidFill>
                  <a:srgbClr val="5AA17E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3226" y="3145536"/>
            <a:ext cx="26252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1EDE6"/>
                </a:solidFill>
                <a:latin typeface="Segoe UI"/>
              </a:rPr>
              <a:t>Matched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3226" y="3803904"/>
            <a:ext cx="262524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D877D"/>
                </a:solidFill>
                <a:latin typeface="Segoe UI"/>
              </a:rPr>
              <a:t>Buyers post real orders. PLEXUS routes them to businesses with the verified capacity to deliver.</a:t>
            </a:r>
          </a:p>
        </p:txBody>
      </p:sp>
      <p:sp>
        <p:nvSpPr>
          <p:cNvPr id="21" name="Oval 20"/>
          <p:cNvSpPr/>
          <p:nvPr/>
        </p:nvSpPr>
        <p:spPr>
          <a:xfrm>
            <a:off x="4824374" y="4860036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0970" y="4809744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Found without marketing spend</a:t>
            </a:r>
          </a:p>
        </p:txBody>
      </p:sp>
      <p:sp>
        <p:nvSpPr>
          <p:cNvPr id="23" name="Oval 22"/>
          <p:cNvSpPr/>
          <p:nvPr/>
        </p:nvSpPr>
        <p:spPr>
          <a:xfrm>
            <a:off x="4824374" y="5106923"/>
            <a:ext cx="64008" cy="64008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0970" y="5056631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Ranked on delivery, not ads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1116" y="2468880"/>
            <a:ext cx="3393338" cy="292608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21116" y="2468880"/>
            <a:ext cx="3393338" cy="50292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05164" y="27980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100">
                <a:solidFill>
                  <a:srgbClr val="D9A441"/>
                </a:solidFill>
                <a:latin typeface="Segoe U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5164" y="3145536"/>
            <a:ext cx="26252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1EDE6"/>
                </a:solidFill>
                <a:latin typeface="Segoe UI"/>
              </a:rPr>
              <a:t>Contracts you couldn't bid for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5164" y="3803904"/>
            <a:ext cx="262524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D877D"/>
                </a:solidFill>
                <a:latin typeface="Segoe UI"/>
              </a:rPr>
              <a:t>Aggregation combines your capacity with others to meet corporate and government orders.</a:t>
            </a:r>
          </a:p>
        </p:txBody>
      </p:sp>
      <p:sp>
        <p:nvSpPr>
          <p:cNvPr id="30" name="Oval 29"/>
          <p:cNvSpPr/>
          <p:nvPr/>
        </p:nvSpPr>
        <p:spPr>
          <a:xfrm>
            <a:off x="8446312" y="4860036"/>
            <a:ext cx="64008" cy="64008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42908" y="4809744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Tenders and supplier development</a:t>
            </a:r>
          </a:p>
        </p:txBody>
      </p:sp>
      <p:sp>
        <p:nvSpPr>
          <p:cNvPr id="32" name="Oval 31"/>
          <p:cNvSpPr/>
          <p:nvPr/>
        </p:nvSpPr>
        <p:spPr>
          <a:xfrm>
            <a:off x="8446312" y="5106923"/>
            <a:ext cx="64008" cy="64008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2908" y="5056631"/>
            <a:ext cx="23874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1EDE6"/>
                </a:solidFill>
                <a:latin typeface="Segoe UI"/>
              </a:rPr>
              <a:t>One invoice, many suppliers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66928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1EDE6"/>
                </a:solidFill>
                <a:latin typeface="Segoe UI"/>
              </a:rPr>
              <a:t>Zero digital presence to a shareable shop in seconds — and into contracts that were structurally out of reach.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86AD7F-F5A2-EABC-4263-FCEB5E6BF18B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CF7050"/>
                </a:solidFill>
                <a:latin typeface="Segoe UI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1EDE6"/>
                </a:solidFill>
                <a:latin typeface="Segoe UI"/>
              </a:rPr>
              <a:t>Infrastructure that holds up in the field.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84831"/>
            <a:ext cx="10637215" cy="1170432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5B574F"/>
                </a:solidFill>
                <a:latin typeface="Segoe UI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6935" y="2286000"/>
            <a:ext cx="2606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574F"/>
                </a:solidFill>
                <a:latin typeface="Segoe UI"/>
              </a:rPr>
              <a:t>React 19 · TypeScript · Zustand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596896"/>
            <a:ext cx="1130769" cy="438912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706624"/>
            <a:ext cx="11307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EDE6"/>
                </a:solidFill>
                <a:latin typeface="Segoe UI"/>
              </a:rP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9217" y="2596896"/>
            <a:ext cx="1130769" cy="438912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9217" y="2706624"/>
            <a:ext cx="11307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EDE6"/>
                </a:solidFill>
                <a:latin typeface="Segoe UI"/>
              </a:rPr>
              <a:t>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69715" y="2596896"/>
            <a:ext cx="1130769" cy="438912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9715" y="2706624"/>
            <a:ext cx="11307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EDE6"/>
                </a:solidFill>
                <a:latin typeface="Segoe UI"/>
              </a:rPr>
              <a:t>Sales / POS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10213" y="2596896"/>
            <a:ext cx="1130769" cy="438912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10213" y="2706624"/>
            <a:ext cx="11307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EDE6"/>
                </a:solidFill>
                <a:latin typeface="Segoe UI"/>
              </a:rPr>
              <a:t>Cash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0711" y="2596896"/>
            <a:ext cx="1130769" cy="438912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0711" y="2706624"/>
            <a:ext cx="11307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EDE6"/>
                </a:solidFill>
                <a:latin typeface="Segoe UI"/>
              </a:rPr>
              <a:t>Suppliers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1209" y="2596896"/>
            <a:ext cx="1130769" cy="438912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91209" y="2706624"/>
            <a:ext cx="11307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EDE6"/>
                </a:solidFill>
                <a:latin typeface="Segoe UI"/>
              </a:rPr>
              <a:t>Storefront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31707" y="2596896"/>
            <a:ext cx="1130769" cy="438912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31707" y="2706624"/>
            <a:ext cx="11307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AA17E"/>
                </a:solidFill>
                <a:latin typeface="Segoe UI"/>
              </a:rPr>
              <a:t>Network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2205" y="2596896"/>
            <a:ext cx="1130769" cy="438912"/>
          </a:xfrm>
          <a:prstGeom prst="roundRect">
            <a:avLst>
              <a:gd name="adj" fmla="val 14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2205" y="2706624"/>
            <a:ext cx="113076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9A441"/>
                </a:solidFill>
                <a:latin typeface="Segoe UI"/>
              </a:rPr>
              <a:t>Passport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36543" y="3255263"/>
            <a:ext cx="0" cy="256033"/>
          </a:xfrm>
          <a:prstGeom prst="line">
            <a:avLst/>
          </a:prstGeom>
          <a:ln w="15875">
            <a:solidFill>
              <a:srgbClr val="3A33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36034" y="3255263"/>
            <a:ext cx="0" cy="256033"/>
          </a:xfrm>
          <a:prstGeom prst="line">
            <a:avLst/>
          </a:prstGeom>
          <a:ln w="15875">
            <a:solidFill>
              <a:srgbClr val="3A33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7240" y="3529584"/>
            <a:ext cx="5158587" cy="1261872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3712463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5B574F"/>
                </a:solidFill>
                <a:latin typeface="Segoe UI"/>
              </a:rPr>
              <a:t>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986783"/>
            <a:ext cx="4335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Firebase Firestore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306824"/>
            <a:ext cx="43356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africa-south1 · offline-first cache · atomic stock transactions · default-deny rules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5867" y="3529584"/>
            <a:ext cx="5158587" cy="1261872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67347" y="3712463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40">
                <a:solidFill>
                  <a:srgbClr val="5B574F"/>
                </a:solidFill>
                <a:latin typeface="Segoe UI"/>
              </a:rPr>
              <a:t>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347" y="3986783"/>
            <a:ext cx="43356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EDE6"/>
                </a:solidFill>
                <a:latin typeface="Segoe UI"/>
              </a:rPr>
              <a:t>Express AI proxy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347" y="4306824"/>
            <a:ext cx="43356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Keys never touch the client · response cache · graceful fallback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03443" y="4791456"/>
            <a:ext cx="0" cy="256032"/>
          </a:xfrm>
          <a:prstGeom prst="line">
            <a:avLst/>
          </a:prstGeom>
          <a:ln w="15875">
            <a:solidFill>
              <a:srgbClr val="3A33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5047488"/>
            <a:ext cx="3393338" cy="82296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5047488"/>
            <a:ext cx="45720" cy="822960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" y="5193792"/>
            <a:ext cx="28446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EDE6"/>
                </a:solidFill>
                <a:latin typeface="Segoe UI"/>
              </a:rPr>
              <a:t>Google Gemini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468112"/>
            <a:ext cx="28446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cloud inference · gemini-2.0-flash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99178" y="5047488"/>
            <a:ext cx="3393338" cy="82296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99178" y="5047488"/>
            <a:ext cx="45720" cy="822960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19218" y="5193792"/>
            <a:ext cx="28446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EDE6"/>
                </a:solidFill>
                <a:latin typeface="Segoe UI"/>
              </a:rPr>
              <a:t>Ollama (local)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19218" y="5468112"/>
            <a:ext cx="28446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on-device model · zero cloud cost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1116" y="5047488"/>
            <a:ext cx="3393338" cy="822960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21116" y="5047488"/>
            <a:ext cx="45720" cy="822960"/>
          </a:xfrm>
          <a:prstGeom prst="rect">
            <a:avLst/>
          </a:prstGeom>
          <a:solidFill>
            <a:srgbClr val="8D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41156" y="5193792"/>
            <a:ext cx="28446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EDE6"/>
                </a:solidFill>
                <a:latin typeface="Segoe UI"/>
              </a:rPr>
              <a:t>Web Speech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1156" y="5468112"/>
            <a:ext cx="28446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STT + TTS in en-ZA · hands-free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9846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574F"/>
                </a:solidFill>
                <a:latin typeface="Segoe UI"/>
              </a:rPr>
              <a:t>The Run layer ships today. Network and Passport build on the same data model — no new infrastructure required.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5B574F"/>
                </a:solidFill>
                <a:latin typeface="Segoe UI"/>
              </a:rPr>
              <a:t>PLEXUS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71255" y="63550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5B574F"/>
                </a:solidFill>
                <a:latin typeface="Segoe UI"/>
              </a:rPr>
              <a:t>13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C54056-ABB6-3A18-E4D0-01FDF39CA95D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3474720"/>
            <a:ext cx="5669280" cy="5669280"/>
          </a:xfrm>
          <a:prstGeom prst="ellipse">
            <a:avLst/>
          </a:prstGeom>
          <a:solidFill>
            <a:srgbClr val="13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10241280" y="1208836"/>
            <a:ext cx="877824" cy="482804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241280" y="1691640"/>
            <a:ext cx="731520" cy="599846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19104" y="1208836"/>
            <a:ext cx="804672" cy="585216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972800" y="1794052"/>
            <a:ext cx="950976" cy="497434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36607" y="1691640"/>
            <a:ext cx="804673" cy="643737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9290304" y="1311249"/>
            <a:ext cx="950976" cy="380391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436607" y="2291486"/>
            <a:ext cx="1536193" cy="43891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241280" y="704088"/>
            <a:ext cx="73152" cy="987552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14432" y="704088"/>
            <a:ext cx="804672" cy="504748"/>
          </a:xfrm>
          <a:prstGeom prst="line">
            <a:avLst/>
          </a:prstGeom>
          <a:ln w="12700">
            <a:solidFill>
              <a:srgbClr val="33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160812" y="1611172"/>
            <a:ext cx="160934" cy="160934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078870" y="1168603"/>
            <a:ext cx="80467" cy="80467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32566" y="2251252"/>
            <a:ext cx="80467" cy="80467"/>
          </a:xfrm>
          <a:prstGeom prst="ellipse">
            <a:avLst/>
          </a:prstGeom>
          <a:solidFill>
            <a:srgbClr val="33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883542" y="1753819"/>
            <a:ext cx="80467" cy="80467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396374" y="2295144"/>
            <a:ext cx="80467" cy="80467"/>
          </a:xfrm>
          <a:prstGeom prst="ellipse">
            <a:avLst/>
          </a:prstGeom>
          <a:solidFill>
            <a:srgbClr val="33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50070" y="1271016"/>
            <a:ext cx="80467" cy="80467"/>
          </a:xfrm>
          <a:prstGeom prst="ellipse">
            <a:avLst/>
          </a:prstGeom>
          <a:solidFill>
            <a:srgbClr val="33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274198" y="663854"/>
            <a:ext cx="80467" cy="80467"/>
          </a:xfrm>
          <a:prstGeom prst="ellipse">
            <a:avLst/>
          </a:prstGeom>
          <a:solidFill>
            <a:srgbClr val="33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617220"/>
            <a:ext cx="146304" cy="32004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1" y="5669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CF7050"/>
                </a:solidFill>
                <a:latin typeface="Segoe UI"/>
              </a:rPr>
              <a:t>WHERE THIS GOES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914400"/>
            <a:ext cx="89611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 i="0">
                <a:solidFill>
                  <a:srgbClr val="F1EDE6"/>
                </a:solidFill>
                <a:latin typeface="Segoe UI"/>
              </a:rPr>
              <a:t>Every business that joins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500" b="1" i="0">
                <a:solidFill>
                  <a:srgbClr val="F1EDE6"/>
                </a:solidFill>
                <a:latin typeface="Segoe UI"/>
              </a:rPr>
              <a:t>makes the network worth more.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4871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8D877D"/>
                </a:solidFill>
                <a:latin typeface="Segoe UI"/>
              </a:rPr>
              <a:t>One verified record, reused. Each extension below is the same Passport applied to a new context — no new data source required.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310128"/>
            <a:ext cx="3393338" cy="1170432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310128"/>
            <a:ext cx="3393338" cy="45720"/>
          </a:xfrm>
          <a:prstGeom prst="rect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3566160"/>
            <a:ext cx="26618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1EDE6"/>
                </a:solidFill>
                <a:latin typeface="Segoe UI"/>
              </a:rPr>
              <a:t>Crisis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858768"/>
            <a:ext cx="266181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The supply map already exists, so 10,000 relief meals is an aggregation query — hours, not days.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9178" y="3310128"/>
            <a:ext cx="3393338" cy="1170432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99178" y="3310128"/>
            <a:ext cx="3393338" cy="45720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64938" y="3566160"/>
            <a:ext cx="26618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1EDE6"/>
                </a:solidFill>
                <a:latin typeface="Segoe UI"/>
              </a:rPr>
              <a:t>Regional trade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4938" y="3858768"/>
            <a:ext cx="266181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Each region develops a visible specialism, and the network tracks the flow between them.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1116" y="3310128"/>
            <a:ext cx="3393338" cy="1170432"/>
          </a:xfrm>
          <a:prstGeom prst="roundRect">
            <a:avLst>
              <a:gd name="adj" fmla="val 5500"/>
            </a:avLst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21116" y="3310128"/>
            <a:ext cx="339333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86876" y="3566160"/>
            <a:ext cx="266181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1EDE6"/>
                </a:solidFill>
                <a:latin typeface="Segoe UI"/>
              </a:rPr>
              <a:t>Cross-border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876" y="3858768"/>
            <a:ext cx="266181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D877D"/>
                </a:solidFill>
                <a:latin typeface="Segoe UI"/>
              </a:rPr>
              <a:t>A proven Passport replaces the trade paperwork a small business could never produce.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75488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80">
                <a:solidFill>
                  <a:srgbClr val="5B574F"/>
                </a:solidFill>
                <a:latin typeface="Segoe UI"/>
              </a:rPr>
              <a:t>FOR SMEs  capital, clarity and contracts   ·   FOR BUYERS  verified supply at scale   ·   FOR LENDERS  priceable risk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193792"/>
            <a:ext cx="10637215" cy="1024128"/>
          </a:xfrm>
          <a:prstGeom prst="roundRect">
            <a:avLst>
              <a:gd name="adj" fmla="val 55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" y="5193792"/>
            <a:ext cx="50292" cy="1024128"/>
          </a:xfrm>
          <a:prstGeom prst="rect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34440" y="539496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1EDE6"/>
                </a:solidFill>
                <a:latin typeface="Segoe UI"/>
              </a:rPr>
              <a:t>PLEXUS — turning invisible businesses into fundable ones.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7881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spc="90">
                <a:solidFill>
                  <a:srgbClr val="E8916F"/>
                </a:solidFill>
                <a:latin typeface="Segoe UI"/>
              </a:rPr>
              <a:t>Run. Connect. Prove.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37215" y="5431536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D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10911535" y="5563209"/>
            <a:ext cx="124102" cy="213970"/>
          </a:xfrm>
          <a:prstGeom prst="line">
            <a:avLst/>
          </a:prstGeom>
          <a:ln w="13970">
            <a:solidFill>
              <a:srgbClr val="6A4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0787432" y="5777179"/>
            <a:ext cx="248205" cy="0"/>
          </a:xfrm>
          <a:prstGeom prst="line">
            <a:avLst/>
          </a:prstGeom>
          <a:ln w="13970">
            <a:solidFill>
              <a:srgbClr val="6A4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787432" y="5563209"/>
            <a:ext cx="124103" cy="213970"/>
          </a:xfrm>
          <a:prstGeom prst="line">
            <a:avLst/>
          </a:prstGeom>
          <a:ln w="13970">
            <a:solidFill>
              <a:srgbClr val="6A4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877245" y="5528919"/>
            <a:ext cx="68580" cy="68580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1001347" y="5600242"/>
            <a:ext cx="68580" cy="6858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001347" y="5742889"/>
            <a:ext cx="68580" cy="68580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877245" y="5814212"/>
            <a:ext cx="68580" cy="68580"/>
          </a:xfrm>
          <a:prstGeom prst="ellipse">
            <a:avLst/>
          </a:prstGeom>
          <a:solidFill>
            <a:srgbClr val="CF7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753142" y="5742889"/>
            <a:ext cx="68580" cy="6858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753142" y="5600242"/>
            <a:ext cx="68580" cy="68580"/>
          </a:xfrm>
          <a:prstGeom prst="ellipse">
            <a:avLst/>
          </a:prstGeom>
          <a:solidFill>
            <a:srgbClr val="5AA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864900" y="5659221"/>
            <a:ext cx="93268" cy="93268"/>
          </a:xfrm>
          <a:prstGeom prst="ellipse">
            <a:avLst/>
          </a:prstGeom>
          <a:solidFill>
            <a:srgbClr val="F1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613B5E-DF53-0F04-58BB-A437C40BE277}"/>
              </a:ext>
            </a:extLst>
          </p:cNvPr>
          <p:cNvSpPr txBox="1"/>
          <p:nvPr/>
        </p:nvSpPr>
        <p:spPr>
          <a:xfrm>
            <a:off x="8305495" y="454858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ZA" sz="1100" b="1" spc="100" dirty="0">
                <a:solidFill>
                  <a:srgbClr val="5B574F"/>
                </a:solidFill>
                <a:latin typeface="Segoe UI"/>
              </a:rPr>
              <a:t>©</a:t>
            </a:r>
            <a:r>
              <a:rPr lang="en-ZA" sz="1100" b="1" i="0" spc="100" dirty="0">
                <a:solidFill>
                  <a:srgbClr val="5B574F"/>
                </a:solidFill>
                <a:latin typeface="Segoe UI"/>
              </a:rPr>
              <a:t>Echoless 2026</a:t>
            </a:r>
            <a:endParaRPr sz="1100" b="1" i="0" spc="100" dirty="0">
              <a:solidFill>
                <a:srgbClr val="5B574F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1695</Words>
  <Application>Microsoft Office PowerPoint</Application>
  <PresentationFormat>Widescreen</PresentationFormat>
  <Paragraphs>339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Kwanele Mbekezeli Ngcamu</cp:lastModifiedBy>
  <cp:revision>2</cp:revision>
  <dcterms:created xsi:type="dcterms:W3CDTF">2013-01-27T09:14:16Z</dcterms:created>
  <dcterms:modified xsi:type="dcterms:W3CDTF">2026-08-23T11:13:00Z</dcterms:modified>
  <cp:category/>
</cp:coreProperties>
</file>